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5" r:id="rId2"/>
  </p:sldIdLst>
  <p:sldSz cx="30275213" cy="21383625"/>
  <p:notesSz cx="9931400" cy="1436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3" pos="6678" userDrawn="1">
          <p15:clr>
            <a:srgbClr val="A4A3A4"/>
          </p15:clr>
        </p15:guide>
        <p15:guide id="4" pos="12393" userDrawn="1">
          <p15:clr>
            <a:srgbClr val="A4A3A4"/>
          </p15:clr>
        </p15:guide>
        <p15:guide id="5" orient="horz" pos="9003" userDrawn="1">
          <p15:clr>
            <a:srgbClr val="A4A3A4"/>
          </p15:clr>
        </p15:guide>
        <p15:guide id="6" orient="horz" pos="12949" userDrawn="1">
          <p15:clr>
            <a:srgbClr val="A4A3A4"/>
          </p15:clr>
        </p15:guide>
        <p15:guide id="7" pos="464" userDrawn="1">
          <p15:clr>
            <a:srgbClr val="A4A3A4"/>
          </p15:clr>
        </p15:guide>
        <p15:guide id="8" pos="18607" userDrawn="1">
          <p15:clr>
            <a:srgbClr val="A4A3A4"/>
          </p15:clr>
        </p15:guide>
        <p15:guide id="9" orient="horz" pos="2086" userDrawn="1">
          <p15:clr>
            <a:srgbClr val="A4A3A4"/>
          </p15:clr>
        </p15:guide>
        <p15:guide id="10" orient="horz" pos="3877" userDrawn="1">
          <p15:clr>
            <a:srgbClr val="A4A3A4"/>
          </p15:clr>
        </p15:guide>
        <p15:guide id="11" pos="6224" userDrawn="1">
          <p15:clr>
            <a:srgbClr val="A4A3A4"/>
          </p15:clr>
        </p15:guide>
        <p15:guide id="12" pos="12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7D"/>
    <a:srgbClr val="1598AC"/>
    <a:srgbClr val="25576A"/>
    <a:srgbClr val="CDE4C4"/>
    <a:srgbClr val="55ADCC"/>
    <a:srgbClr val="78C6BF"/>
    <a:srgbClr val="D4ECCB"/>
    <a:srgbClr val="3284BF"/>
    <a:srgbClr val="3283BF"/>
    <a:srgbClr val="FFC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400" autoAdjust="0"/>
  </p:normalViewPr>
  <p:slideViewPr>
    <p:cSldViewPr snapToGrid="0" showGuides="1">
      <p:cViewPr varScale="1">
        <p:scale>
          <a:sx n="38" d="100"/>
          <a:sy n="38" d="100"/>
        </p:scale>
        <p:origin x="2088" y="198"/>
      </p:cViewPr>
      <p:guideLst>
        <p:guide orient="horz" pos="2381"/>
        <p:guide pos="6678"/>
        <p:guide pos="12393"/>
        <p:guide orient="horz" pos="9003"/>
        <p:guide orient="horz" pos="12949"/>
        <p:guide pos="464"/>
        <p:guide pos="18607"/>
        <p:guide orient="horz" pos="2086"/>
        <p:guide orient="horz" pos="3877"/>
        <p:guide pos="6224"/>
        <p:guide pos="1284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88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4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defRPr sz="1870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/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75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75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44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99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660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05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650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defRPr sz="9978"/>
            </a:lvl1pPr>
            <a:lvl2pPr>
              <a:defRPr sz="8731"/>
            </a:lvl2pPr>
            <a:lvl3pPr>
              <a:defRPr sz="7483"/>
            </a:lvl3pPr>
            <a:lvl4pPr>
              <a:defRPr sz="6236"/>
            </a:lvl4pPr>
            <a:lvl5pPr>
              <a:defRPr sz="6236"/>
            </a:lvl5pPr>
            <a:lvl6pPr>
              <a:defRPr sz="6236"/>
            </a:lvl6pPr>
            <a:lvl7pPr>
              <a:defRPr sz="6236"/>
            </a:lvl7pPr>
            <a:lvl8pPr>
              <a:defRPr sz="6236"/>
            </a:lvl8pPr>
            <a:lvl9pPr>
              <a:defRPr sz="6236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36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defRPr sz="997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53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16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429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D1F1-7914-458A-AAD6-4B7F8B7C5CF9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4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5C8BC-C405-451A-9D50-F41DC4C359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86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851191" rtl="0" eaLnBrk="1" latinLnBrk="0" hangingPunct="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2798" indent="-712798" algn="l" defTabSz="2851191" rtl="0" eaLnBrk="1" latinLnBrk="0" hangingPunct="1">
        <a:lnSpc>
          <a:spcPct val="90000"/>
        </a:lnSpc>
        <a:spcBef>
          <a:spcPts val="3118"/>
        </a:spcBef>
        <a:buFont typeface="Arial" panose="020B0604020202020204" pitchFamily="34" charset="0"/>
        <a:buChar char="•"/>
        <a:defRPr sz="8731" kern="1200">
          <a:solidFill>
            <a:schemeClr val="tx1"/>
          </a:solidFill>
          <a:latin typeface="+mn-lt"/>
          <a:ea typeface="+mn-ea"/>
          <a:cs typeface="+mn-cs"/>
        </a:defRPr>
      </a:lvl1pPr>
      <a:lvl2pPr marL="2138393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7483" kern="1200">
          <a:solidFill>
            <a:schemeClr val="tx1"/>
          </a:solidFill>
          <a:latin typeface="+mn-lt"/>
          <a:ea typeface="+mn-ea"/>
          <a:cs typeface="+mn-cs"/>
        </a:defRPr>
      </a:lvl2pPr>
      <a:lvl3pPr marL="3563988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3pPr>
      <a:lvl4pPr marL="498958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6415179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840774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926637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10691965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2117560" indent="-712798" algn="l" defTabSz="2851191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1pPr>
      <a:lvl2pPr marL="1425595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2pPr>
      <a:lvl3pPr marL="285119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3pPr>
      <a:lvl4pPr marL="4276786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4pPr>
      <a:lvl5pPr marL="5702381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5pPr>
      <a:lvl6pPr marL="712797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6pPr>
      <a:lvl7pPr marL="8553572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7pPr>
      <a:lvl8pPr marL="9979167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8pPr>
      <a:lvl9pPr marL="11404763" algn="l" defTabSz="2851191" rtl="0" eaLnBrk="1" latinLnBrk="0" hangingPunct="1">
        <a:defRPr sz="56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30275784" cy="4572000"/>
          </a:xfrm>
          <a:prstGeom prst="rect">
            <a:avLst/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31520" y="320040"/>
            <a:ext cx="19659600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0" b="1" i="0">
                <a:solidFill>
                  <a:srgbClr val="FFFFFF"/>
                </a:solidFill>
                <a:latin typeface="Calibri"/>
              </a:rPr>
              <a:t>Kubernetes Observability Lab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31520" y="1874519"/>
            <a:ext cx="19659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6DC8BF"/>
                </a:solidFill>
                <a:latin typeface="Calibri"/>
              </a:rPr>
              <a:t>Monitoring, alerting and hands-on labs for DSYS601 students</a:t>
            </a:r>
          </a:p>
        </p:txBody>
      </p:sp>
      <p:sp>
        <p:nvSpPr>
          <p:cNvPr id="5" name="Student name"/>
          <p:cNvSpPr txBox="1"/>
          <p:nvPr/>
        </p:nvSpPr>
        <p:spPr>
          <a:xfrm>
            <a:off x="731520" y="2788920"/>
            <a:ext cx="19659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Kabir Thukral</a:t>
            </a:r>
            <a:r>
              <a:rPr sz="4400" b="0" i="0">
                <a:solidFill>
                  <a:srgbClr val="FFFFFF"/>
                </a:solidFill>
                <a:latin typeface="Calibri"/>
              </a:rPr>
              <a:t>  |  Bachelor of Information &amp; Communication Technologies</a:t>
            </a:r>
          </a:p>
        </p:txBody>
      </p:sp>
      <p:sp>
        <p:nvSpPr>
          <p:cNvPr id="6" name="Student details"/>
          <p:cNvSpPr txBox="1"/>
          <p:nvPr/>
        </p:nvSpPr>
        <p:spPr>
          <a:xfrm>
            <a:off x="731520" y="3520440"/>
            <a:ext cx="196596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0" i="0">
                <a:solidFill>
                  <a:srgbClr val="C1E1C1"/>
                </a:solidFill>
                <a:latin typeface="Calibri"/>
              </a:rPr>
              <a:t>Ara Institute of Canterbury  |  Semester 2, 2026  |  kat0870@arastudent.ac.nz</a:t>
            </a:r>
          </a:p>
        </p:txBody>
      </p:sp>
      <p:pic>
        <p:nvPicPr>
          <p:cNvPr id="7" name="Ara logo" descr="Ara Landscape 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9760" y="685800"/>
            <a:ext cx="5852160" cy="2360929"/>
          </a:xfrm>
          <a:prstGeom prst="rect">
            <a:avLst/>
          </a:prstGeom>
        </p:spPr>
      </p:pic>
      <p:sp>
        <p:nvSpPr>
          <p:cNvPr id="8" name="Partner label"/>
          <p:cNvSpPr txBox="1"/>
          <p:nvPr/>
        </p:nvSpPr>
        <p:spPr>
          <a:xfrm>
            <a:off x="20939760" y="3246120"/>
            <a:ext cx="5852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C1E1C1"/>
                </a:solidFill>
                <a:latin typeface="Calibri"/>
              </a:rPr>
              <a:t>Project partner: Ara DSYS601 teaching team</a:t>
            </a:r>
          </a:p>
        </p:txBody>
      </p:sp>
      <p:sp>
        <p:nvSpPr>
          <p:cNvPr id="9" name="QR tile"/>
          <p:cNvSpPr/>
          <p:nvPr/>
        </p:nvSpPr>
        <p:spPr>
          <a:xfrm>
            <a:off x="27386280" y="502920"/>
            <a:ext cx="22402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QR code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77720" y="594360"/>
            <a:ext cx="2057400" cy="2057400"/>
          </a:xfrm>
          <a:prstGeom prst="rect">
            <a:avLst/>
          </a:prstGeom>
        </p:spPr>
      </p:pic>
      <p:sp>
        <p:nvSpPr>
          <p:cNvPr id="11" name="QR caption"/>
          <p:cNvSpPr txBox="1"/>
          <p:nvPr/>
        </p:nvSpPr>
        <p:spPr>
          <a:xfrm>
            <a:off x="27066240" y="2834640"/>
            <a:ext cx="2880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Scan to open the lab on GitHub</a:t>
            </a:r>
          </a:p>
        </p:txBody>
      </p:sp>
      <p:sp>
        <p:nvSpPr>
          <p:cNvPr id="12" name="Step 1 badge"/>
          <p:cNvSpPr/>
          <p:nvPr/>
        </p:nvSpPr>
        <p:spPr>
          <a:xfrm>
            <a:off x="731520" y="5120640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Introduction heading"/>
          <p:cNvSpPr txBox="1"/>
          <p:nvPr/>
        </p:nvSpPr>
        <p:spPr>
          <a:xfrm>
            <a:off x="1874519" y="5074920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8869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B31"/>
                </a:solidFill>
                <a:latin typeface="Calibri"/>
              </a:rPr>
              <a:t>DSYS601 students learn to run apps on Kubernetes. Seeing what is happening inside a cluster, and being told when something breaks, is a core DevOps skill, but there was no ready-made lab to teach it.</a:t>
            </a:r>
          </a:p>
        </p:txBody>
      </p:sp>
      <p:sp>
        <p:nvSpPr>
          <p:cNvPr id="15" name="Step 2 badge"/>
          <p:cNvSpPr/>
          <p:nvPr/>
        </p:nvSpPr>
        <p:spPr>
          <a:xfrm>
            <a:off x="731520" y="8686800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Aim heading"/>
          <p:cNvSpPr txBox="1"/>
          <p:nvPr/>
        </p:nvSpPr>
        <p:spPr>
          <a:xfrm>
            <a:off x="1874519" y="8641080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9784080"/>
            <a:ext cx="8869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B31"/>
                </a:solidFill>
                <a:latin typeface="Calibri"/>
              </a:rPr>
              <a:t>A reproducible Kubernetes lab with monitoring, dashboards and alerts that tutors can rebuild each cohort.</a:t>
            </a:r>
          </a:p>
        </p:txBody>
      </p:sp>
      <p:sp>
        <p:nvSpPr>
          <p:cNvPr id="18" name="Step 3 badge"/>
          <p:cNvSpPr/>
          <p:nvPr/>
        </p:nvSpPr>
        <p:spPr>
          <a:xfrm>
            <a:off x="731520" y="11567159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Method heading"/>
          <p:cNvSpPr txBox="1"/>
          <p:nvPr/>
        </p:nvSpPr>
        <p:spPr>
          <a:xfrm>
            <a:off x="1874519" y="11521439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12664439"/>
            <a:ext cx="8869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B31"/>
                </a:solidFill>
                <a:latin typeface="Calibri"/>
              </a:rPr>
              <a:t>15 brief tasks, one at a time, each with an evidence report reviewed by my industry supervisor.</a:t>
            </a:r>
          </a:p>
        </p:txBody>
      </p:sp>
      <p:sp>
        <p:nvSpPr>
          <p:cNvPr id="21" name="Method step 1"/>
          <p:cNvSpPr/>
          <p:nvPr/>
        </p:nvSpPr>
        <p:spPr>
          <a:xfrm>
            <a:off x="731520" y="14218919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1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Build cluster</a:t>
            </a:r>
          </a:p>
        </p:txBody>
      </p:sp>
      <p:sp>
        <p:nvSpPr>
          <p:cNvPr id="22" name="Method step 2"/>
          <p:cNvSpPr/>
          <p:nvPr/>
        </p:nvSpPr>
        <p:spPr>
          <a:xfrm>
            <a:off x="5257800" y="14218919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2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Deploy app</a:t>
            </a:r>
          </a:p>
        </p:txBody>
      </p:sp>
      <p:sp>
        <p:nvSpPr>
          <p:cNvPr id="23" name="Method step 3"/>
          <p:cNvSpPr/>
          <p:nvPr/>
        </p:nvSpPr>
        <p:spPr>
          <a:xfrm>
            <a:off x="731520" y="15078455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3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Add monitoring</a:t>
            </a:r>
          </a:p>
        </p:txBody>
      </p:sp>
      <p:sp>
        <p:nvSpPr>
          <p:cNvPr id="24" name="Method step 4"/>
          <p:cNvSpPr/>
          <p:nvPr/>
        </p:nvSpPr>
        <p:spPr>
          <a:xfrm>
            <a:off x="5257800" y="15078455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4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Write alerts</a:t>
            </a:r>
          </a:p>
        </p:txBody>
      </p:sp>
      <p:sp>
        <p:nvSpPr>
          <p:cNvPr id="25" name="Method step 5"/>
          <p:cNvSpPr/>
          <p:nvPr/>
        </p:nvSpPr>
        <p:spPr>
          <a:xfrm>
            <a:off x="731520" y="15937991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5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Inject failures</a:t>
            </a:r>
          </a:p>
        </p:txBody>
      </p:sp>
      <p:sp>
        <p:nvSpPr>
          <p:cNvPr id="26" name="Method step 6"/>
          <p:cNvSpPr/>
          <p:nvPr/>
        </p:nvSpPr>
        <p:spPr>
          <a:xfrm>
            <a:off x="5257800" y="15937991"/>
            <a:ext cx="4343400" cy="713232"/>
          </a:xfrm>
          <a:prstGeom prst="roundRect">
            <a:avLst>
              <a:gd name="adj" fmla="val 25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l"/>
            <a:r>
              <a:rPr sz="2800" b="1" i="0">
                <a:solidFill>
                  <a:srgbClr val="27BDBE"/>
                </a:solidFill>
                <a:latin typeface="Calibri"/>
              </a:rPr>
              <a:t>6  </a:t>
            </a:r>
            <a:r>
              <a:rPr sz="2800" b="1" i="0">
                <a:solidFill>
                  <a:srgbClr val="006A7C"/>
                </a:solidFill>
                <a:latin typeface="Calibri"/>
              </a:rPr>
              <a:t>Hand over</a:t>
            </a:r>
          </a:p>
        </p:txBody>
      </p:sp>
      <p:sp>
        <p:nvSpPr>
          <p:cNvPr id="27" name="Stat cluster nodes"/>
          <p:cNvSpPr/>
          <p:nvPr/>
        </p:nvSpPr>
        <p:spPr>
          <a:xfrm>
            <a:off x="731520" y="17062703"/>
            <a:ext cx="2080260" cy="1600200"/>
          </a:xfrm>
          <a:prstGeom prst="roundRect">
            <a:avLst>
              <a:gd name="adj" fmla="val 1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9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ctr">
              <a:lnSpc>
                <a:spcPct val="90000"/>
              </a:lnSpc>
            </a:pPr>
            <a:r>
              <a:rPr sz="2200" b="0" i="0">
                <a:solidFill>
                  <a:srgbClr val="C1E1C1"/>
                </a:solidFill>
                <a:latin typeface="Calibri"/>
              </a:rPr>
              <a:t>cluster nodes</a:t>
            </a:r>
          </a:p>
        </p:txBody>
      </p:sp>
      <p:sp>
        <p:nvSpPr>
          <p:cNvPr id="28" name="Stat custom alerts"/>
          <p:cNvSpPr/>
          <p:nvPr/>
        </p:nvSpPr>
        <p:spPr>
          <a:xfrm>
            <a:off x="2994660" y="17062703"/>
            <a:ext cx="2080260" cy="1600200"/>
          </a:xfrm>
          <a:prstGeom prst="roundRect">
            <a:avLst>
              <a:gd name="adj" fmla="val 1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9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ctr">
              <a:lnSpc>
                <a:spcPct val="90000"/>
              </a:lnSpc>
            </a:pPr>
            <a:r>
              <a:rPr sz="2200" b="0" i="0">
                <a:solidFill>
                  <a:srgbClr val="C1E1C1"/>
                </a:solidFill>
                <a:latin typeface="Calibri"/>
              </a:rPr>
              <a:t>custom alerts</a:t>
            </a:r>
          </a:p>
        </p:txBody>
      </p:sp>
      <p:sp>
        <p:nvSpPr>
          <p:cNvPr id="29" name="Stat student labs"/>
          <p:cNvSpPr/>
          <p:nvPr/>
        </p:nvSpPr>
        <p:spPr>
          <a:xfrm>
            <a:off x="5257800" y="17062703"/>
            <a:ext cx="2080260" cy="1600200"/>
          </a:xfrm>
          <a:prstGeom prst="roundRect">
            <a:avLst>
              <a:gd name="adj" fmla="val 1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9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ctr">
              <a:lnSpc>
                <a:spcPct val="90000"/>
              </a:lnSpc>
            </a:pPr>
            <a:r>
              <a:rPr sz="2200" b="0" i="0">
                <a:solidFill>
                  <a:srgbClr val="C1E1C1"/>
                </a:solidFill>
                <a:latin typeface="Calibri"/>
              </a:rPr>
              <a:t>student labs</a:t>
            </a:r>
          </a:p>
        </p:txBody>
      </p:sp>
      <p:sp>
        <p:nvSpPr>
          <p:cNvPr id="30" name="Stat brief tasks"/>
          <p:cNvSpPr/>
          <p:nvPr/>
        </p:nvSpPr>
        <p:spPr>
          <a:xfrm>
            <a:off x="7520940" y="17062703"/>
            <a:ext cx="2080260" cy="1600200"/>
          </a:xfrm>
          <a:prstGeom prst="roundRect">
            <a:avLst>
              <a:gd name="adj" fmla="val 1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90000"/>
              </a:lnSpc>
            </a:pPr>
            <a:r>
              <a:rPr sz="6600" b="1" i="0">
                <a:solidFill>
                  <a:srgbClr val="FFFFFF"/>
                </a:solidFill>
                <a:latin typeface="Calibri"/>
              </a:rPr>
              <a:t>15</a:t>
            </a:r>
          </a:p>
          <a:p>
            <a:pPr algn="ctr">
              <a:lnSpc>
                <a:spcPct val="90000"/>
              </a:lnSpc>
            </a:pPr>
            <a:r>
              <a:rPr sz="2200" b="0" i="0">
                <a:solidFill>
                  <a:srgbClr val="C1E1C1"/>
                </a:solidFill>
                <a:latin typeface="Calibri"/>
              </a:rPr>
              <a:t>brief tasks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19028663"/>
            <a:ext cx="8869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6A7C"/>
                </a:solidFill>
                <a:latin typeface="Calibri"/>
              </a:rPr>
              <a:t>Tools used</a:t>
            </a:r>
          </a:p>
        </p:txBody>
      </p:sp>
      <p:pic>
        <p:nvPicPr>
          <p:cNvPr id="32" name="Ubuntu icon" descr="SiUbunt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40" y="19485863"/>
            <a:ext cx="640080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Ubuntu</a:t>
            </a:r>
          </a:p>
        </p:txBody>
      </p:sp>
      <p:pic>
        <p:nvPicPr>
          <p:cNvPr id="34" name="VMware icon" descr="SiVmw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9759" y="19485863"/>
            <a:ext cx="640080" cy="6400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57988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VMware</a:t>
            </a:r>
          </a:p>
        </p:txBody>
      </p:sp>
      <p:pic>
        <p:nvPicPr>
          <p:cNvPr id="36" name="Docker icon" descr="SiDo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5280" y="19485863"/>
            <a:ext cx="640080" cy="6400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56540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Docker</a:t>
            </a:r>
          </a:p>
        </p:txBody>
      </p:sp>
      <p:pic>
        <p:nvPicPr>
          <p:cNvPr id="38" name="K8s icon" descr="SiKubernet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800" y="19485863"/>
            <a:ext cx="640080" cy="6400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55092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K8s</a:t>
            </a:r>
          </a:p>
        </p:txBody>
      </p:sp>
      <p:pic>
        <p:nvPicPr>
          <p:cNvPr id="40" name="Helm icon" descr="SiHel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19485863"/>
            <a:ext cx="640080" cy="640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536439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Helm</a:t>
            </a:r>
          </a:p>
        </p:txBody>
      </p:sp>
      <p:pic>
        <p:nvPicPr>
          <p:cNvPr id="42" name="Prometheus icon" descr="SiPrometheu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1840" y="19485863"/>
            <a:ext cx="640080" cy="6400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521959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Prometheus</a:t>
            </a:r>
          </a:p>
        </p:txBody>
      </p:sp>
      <p:pic>
        <p:nvPicPr>
          <p:cNvPr id="44" name="Grafana icon" descr="SiGrafa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7360" y="19485863"/>
            <a:ext cx="640080" cy="6400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0748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Grafana</a:t>
            </a:r>
          </a:p>
        </p:txBody>
      </p:sp>
      <p:pic>
        <p:nvPicPr>
          <p:cNvPr id="46" name="Git icon" descr="SiG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02880" y="19485863"/>
            <a:ext cx="640080" cy="6400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9300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Git</a:t>
            </a:r>
          </a:p>
        </p:txBody>
      </p:sp>
      <p:pic>
        <p:nvPicPr>
          <p:cNvPr id="48" name="GitHub icon" descr="SiGithu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8400" y="19485863"/>
            <a:ext cx="640080" cy="6400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78520" y="20171663"/>
            <a:ext cx="1259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0C586E"/>
                </a:solidFill>
                <a:latin typeface="Calibri"/>
              </a:rPr>
              <a:t>GitHub</a:t>
            </a:r>
          </a:p>
        </p:txBody>
      </p:sp>
      <p:sp>
        <p:nvSpPr>
          <p:cNvPr id="50" name="Step 4 badge"/>
          <p:cNvSpPr/>
          <p:nvPr/>
        </p:nvSpPr>
        <p:spPr>
          <a:xfrm>
            <a:off x="10195560" y="5120640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Outcomes heading"/>
          <p:cNvSpPr txBox="1"/>
          <p:nvPr/>
        </p:nvSpPr>
        <p:spPr>
          <a:xfrm>
            <a:off x="11338560" y="5074920"/>
            <a:ext cx="87325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Outcomes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621792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6A7C"/>
                </a:solidFill>
                <a:latin typeface="Calibri"/>
              </a:rPr>
              <a:t>Figure 1. </a:t>
            </a:r>
            <a:r>
              <a:rPr sz="2600" b="0" i="1">
                <a:solidFill>
                  <a:srgbClr val="006A7C"/>
                </a:solidFill>
                <a:latin typeface="Calibri"/>
              </a:rPr>
              <a:t>Lab architecture: one VM runs the whole cluster</a:t>
            </a:r>
          </a:p>
        </p:txBody>
      </p:sp>
      <p:sp>
        <p:nvSpPr>
          <p:cNvPr id="53" name="Figure 1 panel"/>
          <p:cNvSpPr/>
          <p:nvPr/>
        </p:nvSpPr>
        <p:spPr>
          <a:xfrm>
            <a:off x="10195560" y="6720840"/>
            <a:ext cx="9875520" cy="4754880"/>
          </a:xfrm>
          <a:prstGeom prst="roundRect">
            <a:avLst>
              <a:gd name="adj" fmla="val 4000"/>
            </a:avLst>
          </a:prstGeom>
          <a:solidFill>
            <a:srgbClr val="EA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M boundary"/>
          <p:cNvSpPr/>
          <p:nvPr/>
        </p:nvSpPr>
        <p:spPr>
          <a:xfrm>
            <a:off x="10424160" y="6903720"/>
            <a:ext cx="9418320" cy="4389120"/>
          </a:xfrm>
          <a:prstGeom prst="rect">
            <a:avLst/>
          </a:prstGeom>
          <a:noFill/>
          <a:ln w="31750">
            <a:solidFill>
              <a:srgbClr val="0C586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652760" y="6976872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C586E"/>
                </a:solidFill>
                <a:latin typeface="Calibri"/>
              </a:rPr>
              <a:t>Ubuntu VM  ·  Docker  ·  Kind cluster </a:t>
            </a:r>
            <a:r>
              <a:rPr sz="2400" b="0" i="0">
                <a:solidFill>
                  <a:srgbClr val="0C586E"/>
                </a:solidFill>
                <a:latin typeface="Calibri"/>
              </a:rPr>
              <a:t>"dsys601-lab"</a:t>
            </a:r>
          </a:p>
        </p:txBody>
      </p:sp>
      <p:sp>
        <p:nvSpPr>
          <p:cNvPr id="56" name="Node control-plane"/>
          <p:cNvSpPr/>
          <p:nvPr/>
        </p:nvSpPr>
        <p:spPr>
          <a:xfrm>
            <a:off x="10652760" y="7498079"/>
            <a:ext cx="2865120" cy="603504"/>
          </a:xfrm>
          <a:prstGeom prst="roundRect">
            <a:avLst>
              <a:gd name="adj" fmla="val 2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control-plane</a:t>
            </a:r>
          </a:p>
        </p:txBody>
      </p:sp>
      <p:sp>
        <p:nvSpPr>
          <p:cNvPr id="57" name="Node worker"/>
          <p:cNvSpPr/>
          <p:nvPr/>
        </p:nvSpPr>
        <p:spPr>
          <a:xfrm>
            <a:off x="13700760" y="7498079"/>
            <a:ext cx="2865120" cy="603504"/>
          </a:xfrm>
          <a:prstGeom prst="roundRect">
            <a:avLst>
              <a:gd name="adj" fmla="val 2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58" name="Node worker2"/>
          <p:cNvSpPr/>
          <p:nvPr/>
        </p:nvSpPr>
        <p:spPr>
          <a:xfrm>
            <a:off x="16748760" y="7498079"/>
            <a:ext cx="2865120" cy="603504"/>
          </a:xfrm>
          <a:prstGeom prst="roundRect">
            <a:avLst>
              <a:gd name="adj" fmla="val 20000"/>
            </a:avLst>
          </a:prstGeom>
          <a:solidFill>
            <a:srgbClr val="0C5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worker2</a:t>
            </a:r>
          </a:p>
        </p:txBody>
      </p:sp>
      <p:sp>
        <p:nvSpPr>
          <p:cNvPr id="59" name="demo-app namespace"/>
          <p:cNvSpPr/>
          <p:nvPr/>
        </p:nvSpPr>
        <p:spPr>
          <a:xfrm>
            <a:off x="10652760" y="8275319"/>
            <a:ext cx="4069080" cy="2834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27B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monitoring namespace"/>
          <p:cNvSpPr/>
          <p:nvPr/>
        </p:nvSpPr>
        <p:spPr>
          <a:xfrm>
            <a:off x="15544800" y="8275319"/>
            <a:ext cx="4069080" cy="2834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27B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35640" y="8348471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6A7C"/>
                </a:solidFill>
                <a:latin typeface="Calibri"/>
              </a:rPr>
              <a:t>namespace: demo-app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727680" y="8348471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6A7C"/>
                </a:solidFill>
                <a:latin typeface="Calibri"/>
              </a:rPr>
              <a:t>namespace: monitoring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835640" y="8805672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C1E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Frontend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>nginx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2687300" y="9354311"/>
            <a:ext cx="0" cy="182881"/>
          </a:xfrm>
          <a:prstGeom prst="line">
            <a:avLst/>
          </a:prstGeom>
          <a:ln w="31750">
            <a:solidFill>
              <a:srgbClr val="006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835640" y="9537192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C1E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API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>go-httpbin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2687300" y="10085832"/>
            <a:ext cx="0" cy="182879"/>
          </a:xfrm>
          <a:prstGeom prst="line">
            <a:avLst/>
          </a:prstGeom>
          <a:ln w="31750">
            <a:solidFill>
              <a:srgbClr val="006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0835640" y="10268711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C1E1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Datastore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>Redis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5727680" y="8805672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Prometheus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>+ alert rules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5727680" y="9537192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6D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Grafana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>dashboard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727680" y="10268711"/>
            <a:ext cx="3703320" cy="548640"/>
          </a:xfrm>
          <a:prstGeom prst="roundRect">
            <a:avLst>
              <a:gd name="adj" fmla="val 20000"/>
            </a:avLst>
          </a:prstGeom>
          <a:solidFill>
            <a:srgbClr val="6DC8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200" b="1" i="0">
                <a:solidFill>
                  <a:srgbClr val="1E2B31"/>
                </a:solidFill>
                <a:latin typeface="Calibri"/>
              </a:rPr>
              <a:t>Alertmanager </a:t>
            </a:r>
            <a:r>
              <a:rPr sz="2200" b="0" i="0">
                <a:solidFill>
                  <a:srgbClr val="1E2B31"/>
                </a:solidFill>
                <a:latin typeface="Calibri"/>
              </a:rPr>
              <a:t/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7579339" y="9354311"/>
            <a:ext cx="0" cy="182880"/>
          </a:xfrm>
          <a:prstGeom prst="line">
            <a:avLst/>
          </a:prstGeom>
          <a:ln w="31750">
            <a:solidFill>
              <a:srgbClr val="006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504152" y="9079992"/>
            <a:ext cx="0" cy="1463040"/>
          </a:xfrm>
          <a:prstGeom prst="line">
            <a:avLst/>
          </a:prstGeom>
          <a:ln w="31750">
            <a:solidFill>
              <a:srgbClr val="006A7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4721840" y="9079992"/>
            <a:ext cx="1005840" cy="0"/>
          </a:xfrm>
          <a:prstGeom prst="line">
            <a:avLst/>
          </a:prstGeom>
          <a:ln w="44450">
            <a:solidFill>
              <a:srgbClr val="0C58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4721840" y="9153144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C586E"/>
                </a:solidFill>
                <a:latin typeface="Calibri"/>
              </a:rPr>
              <a:t>scrape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5560" y="117500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6A7C"/>
                </a:solidFill>
                <a:latin typeface="Calibri"/>
              </a:rPr>
              <a:t>Figure 2. </a:t>
            </a:r>
            <a:r>
              <a:rPr sz="2600" b="0" i="1">
                <a:solidFill>
                  <a:srgbClr val="006A7C"/>
                </a:solidFill>
                <a:latin typeface="Calibri"/>
              </a:rPr>
              <a:t>Grafana "DSYS601 Workload Health" dashboard</a:t>
            </a:r>
          </a:p>
        </p:txBody>
      </p:sp>
      <p:sp>
        <p:nvSpPr>
          <p:cNvPr id="76" name="Figure 2 frame"/>
          <p:cNvSpPr/>
          <p:nvPr/>
        </p:nvSpPr>
        <p:spPr>
          <a:xfrm>
            <a:off x="10140696" y="12198096"/>
            <a:ext cx="9985248" cy="4912315"/>
          </a:xfrm>
          <a:prstGeom prst="roundRect">
            <a:avLst>
              <a:gd name="adj" fmla="val 3000"/>
            </a:avLst>
          </a:prstGeom>
          <a:solidFill>
            <a:srgbClr val="181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Grafana dashboard screenshot" descr="grafana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5560" y="12252960"/>
            <a:ext cx="9875520" cy="4802587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0195560" y="17375587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006A7C"/>
                </a:solidFill>
                <a:latin typeface="Calibri"/>
              </a:rPr>
              <a:t>Figure 3. </a:t>
            </a:r>
            <a:r>
              <a:rPr sz="2600" b="0" i="1">
                <a:solidFill>
                  <a:srgbClr val="006A7C"/>
                </a:solidFill>
                <a:latin typeface="Calibri"/>
              </a:rPr>
              <a:t>Failure injection testing: every test fired its alert</a:t>
            </a:r>
          </a:p>
        </p:txBody>
      </p:sp>
      <p:graphicFrame>
        <p:nvGraphicFramePr>
          <p:cNvPr id="79" name="Figure 3 table"/>
          <p:cNvGraphicFramePr>
            <a:graphicFrameLocks noGrp="1"/>
          </p:cNvGraphicFramePr>
          <p:nvPr/>
        </p:nvGraphicFramePr>
        <p:xfrm>
          <a:off x="10195560" y="17878507"/>
          <a:ext cx="9875520" cy="2651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023360"/>
                <a:gridCol w="4251960"/>
                <a:gridCol w="1600200"/>
              </a:tblGrid>
              <a:tr h="53035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Failure injected</a:t>
                      </a:r>
                    </a:p>
                  </a:txBody>
                  <a:tcPr marL="137160" marR="91440" marT="27432" marB="27432" anchor="ctr">
                    <a:solidFill>
                      <a:srgbClr val="006A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DSYS601 alert</a:t>
                      </a:r>
                    </a:p>
                  </a:txBody>
                  <a:tcPr marL="137160" marR="91440" marT="27432" marB="27432" anchor="ctr">
                    <a:solidFill>
                      <a:srgbClr val="006A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137160" marR="91440" marT="27432" marB="27432" anchor="ctr">
                    <a:solidFill>
                      <a:srgbClr val="006A7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Container keeps crashing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PodCrashLooping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6A7C"/>
                          </a:solidFill>
                          <a:latin typeface="Calibri"/>
                        </a:rPr>
                        <a:t>Fired ✓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Memory held near its limit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ContainerMemoryNearLimit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6A7C"/>
                          </a:solidFill>
                          <a:latin typeface="Calibri"/>
                        </a:rPr>
                        <a:t>Fired ✓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Broken readiness probe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PodNotReady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6A7C"/>
                          </a:solidFill>
                          <a:latin typeface="Calibri"/>
                        </a:rPr>
                        <a:t>Fired ✓</a:t>
                      </a:r>
                    </a:p>
                  </a:txBody>
                  <a:tcPr marL="137160" marR="91440" marT="27432" marB="27432" anchor="ctr">
                    <a:solidFill>
                      <a:srgbClr val="EAF5F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Node under memory pressure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E2B31"/>
                          </a:solidFill>
                          <a:latin typeface="Calibri"/>
                        </a:rPr>
                        <a:t>NodeUnderPressure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006A7C"/>
                          </a:solidFill>
                          <a:latin typeface="Calibri"/>
                        </a:rPr>
                        <a:t>Fired ✓</a:t>
                      </a:r>
                    </a:p>
                  </a:txBody>
                  <a:tcPr marL="13716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0" name="Step 5 badge"/>
          <p:cNvSpPr/>
          <p:nvPr/>
        </p:nvSpPr>
        <p:spPr>
          <a:xfrm>
            <a:off x="20665440" y="5120640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1" name="Learnings heading"/>
          <p:cNvSpPr txBox="1"/>
          <p:nvPr/>
        </p:nvSpPr>
        <p:spPr>
          <a:xfrm>
            <a:off x="21808440" y="5074920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Learnings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665440" y="6217920"/>
            <a:ext cx="8869680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11480" indent="-411480">
              <a:spcAft>
                <a:spcPts val="800"/>
              </a:spcAft>
              <a:buClr>
                <a:srgbClr val="009CAD"/>
              </a:buClr>
              <a:buSzPct val="110000"/>
              <a:buFont typeface="Arial"/>
              <a:buChar char="•"/>
            </a:pPr>
            <a:r>
              <a:rPr sz="3000" b="0" i="0">
                <a:solidFill>
                  <a:srgbClr val="1E2B31"/>
                </a:solidFill>
                <a:latin typeface="Calibri"/>
              </a:rPr>
              <a:t>Kubernetes in depth: pods, probes, resource limits and node pressure</a:t>
            </a:r>
          </a:p>
          <a:p>
            <a:pPr algn="l" marL="411480" indent="-411480">
              <a:spcAft>
                <a:spcPts val="800"/>
              </a:spcAft>
              <a:buClr>
                <a:srgbClr val="009CAD"/>
              </a:buClr>
              <a:buSzPct val="110000"/>
              <a:buFont typeface="Arial"/>
              <a:buChar char="•"/>
            </a:pPr>
            <a:r>
              <a:rPr sz="3000" b="0" i="0">
                <a:solidFill>
                  <a:srgbClr val="1E2B31"/>
                </a:solidFill>
                <a:latin typeface="Calibri"/>
              </a:rPr>
              <a:t>PromQL and alert design: tuning wait times to stop false alarms</a:t>
            </a:r>
          </a:p>
          <a:p>
            <a:pPr algn="l" marL="411480" indent="-411480">
              <a:spcAft>
                <a:spcPts val="800"/>
              </a:spcAft>
              <a:buClr>
                <a:srgbClr val="009CAD"/>
              </a:buClr>
              <a:buSzPct val="110000"/>
              <a:buFont typeface="Arial"/>
              <a:buChar char="•"/>
            </a:pPr>
            <a:r>
              <a:rPr sz="3000" b="0" i="0">
                <a:solidFill>
                  <a:srgbClr val="1E2B31"/>
                </a:solidFill>
                <a:latin typeface="Calibri"/>
              </a:rPr>
              <a:t>Reproducibility: pinned versions, image digests and rebuild tests</a:t>
            </a:r>
          </a:p>
          <a:p>
            <a:pPr algn="l" marL="411480" indent="-411480">
              <a:spcAft>
                <a:spcPts val="800"/>
              </a:spcAft>
              <a:buClr>
                <a:srgbClr val="009CAD"/>
              </a:buClr>
              <a:buSzPct val="110000"/>
              <a:buFont typeface="Arial"/>
              <a:buChar char="•"/>
            </a:pPr>
            <a:r>
              <a:rPr sz="3000" b="0" i="0">
                <a:solidFill>
                  <a:srgbClr val="1E2B31"/>
                </a:solidFill>
                <a:latin typeface="Calibri"/>
              </a:rPr>
              <a:t>Writing for others and acting on supervisor feedback</a:t>
            </a:r>
          </a:p>
        </p:txBody>
      </p:sp>
      <p:sp>
        <p:nvSpPr>
          <p:cNvPr id="83" name="Step 6 badge"/>
          <p:cNvSpPr/>
          <p:nvPr/>
        </p:nvSpPr>
        <p:spPr>
          <a:xfrm>
            <a:off x="20665440" y="10287000"/>
            <a:ext cx="868680" cy="868680"/>
          </a:xfrm>
          <a:prstGeom prst="ellipse">
            <a:avLst/>
          </a:prstGeom>
          <a:solidFill>
            <a:srgbClr val="27B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4" name="Conclusion heading"/>
          <p:cNvSpPr txBox="1"/>
          <p:nvPr/>
        </p:nvSpPr>
        <p:spPr>
          <a:xfrm>
            <a:off x="21808440" y="10241280"/>
            <a:ext cx="7726679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 i="0">
                <a:solidFill>
                  <a:srgbClr val="006A7C"/>
                </a:solidFill>
                <a:latin typeface="Calibri"/>
              </a:rPr>
              <a:t>Conclusion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665440" y="11384280"/>
            <a:ext cx="8869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1E2B31"/>
                </a:solidFill>
                <a:latin typeface="Calibri"/>
              </a:rPr>
              <a:t>Tutors can rebuild a working, monitored cluster from one repo each cohort, and students learn by breaking things safely and watching the alerts fire.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665440" y="13395959"/>
            <a:ext cx="8869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6A7C"/>
                </a:solidFill>
                <a:latin typeface="Calibri"/>
              </a:rPr>
              <a:t>References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665440" y="14127480"/>
            <a:ext cx="886968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Grafana Labs. (n.d.). Grafana documentation. https://grafana.com/docs/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Kubernetes. (n.d.). Kubernetes documentation. https://kubernetes.io/docs/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Kubernetes SIGs. (n.d.). kind. https://kind.sigs.k8s.io/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Prometheus. (n.d.). Prometheus documentation. https://prometheus.io/docs/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Prometheus Community. (n.d.). kube-prometheus-stack [Helm chart]. https://github.com/prometheus-community/helm-charts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E2B31"/>
                </a:solidFill>
                <a:latin typeface="Calibri"/>
              </a:rPr>
              <a:t>Simple Icons. (n.d.). Tool logos [Graphics]. https://simpleicons.org/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665440" y="17373600"/>
            <a:ext cx="88696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 i="0">
                <a:solidFill>
                  <a:srgbClr val="006A7C"/>
                </a:solidFill>
                <a:latin typeface="Calibri"/>
              </a:rPr>
              <a:t>Acknowledgements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665440" y="18105120"/>
            <a:ext cx="88696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E2B31"/>
                </a:solidFill>
                <a:latin typeface="Calibri"/>
              </a:rPr>
              <a:t>Course Convenor: </a:t>
            </a:r>
            <a:r>
              <a:rPr sz="2400" b="0" i="0">
                <a:solidFill>
                  <a:srgbClr val="1E2B31"/>
                </a:solidFill>
                <a:latin typeface="Calibri"/>
              </a:rPr>
              <a:t>Dr David Weir</a:t>
            </a:r>
          </a:p>
          <a:p>
            <a:pPr algn="l"/>
            <a:r>
              <a:rPr sz="2400" b="0" i="0">
                <a:solidFill>
                  <a:srgbClr val="0C586E"/>
                </a:solidFill>
                <a:latin typeface="Calibri"/>
              </a:rPr>
              <a:t>david.weir@ara.ac.nz</a:t>
            </a:r>
          </a:p>
          <a:p>
            <a:pPr algn="l"/>
            <a:r>
              <a:rPr sz="2400" b="1" i="0">
                <a:solidFill>
                  <a:srgbClr val="1E2B31"/>
                </a:solidFill>
                <a:latin typeface="Calibri"/>
              </a:rPr>
              <a:t>Academic Supervisor: </a:t>
            </a:r>
            <a:r>
              <a:rPr sz="2400" b="0" i="0">
                <a:solidFill>
                  <a:srgbClr val="1E2B31"/>
                </a:solidFill>
                <a:latin typeface="Calibri"/>
              </a:rPr>
              <a:t>Dr Bernard Otinpong</a:t>
            </a:r>
          </a:p>
          <a:p>
            <a:pPr algn="l"/>
            <a:r>
              <a:rPr sz="2400" b="0" i="0">
                <a:solidFill>
                  <a:srgbClr val="0C586E"/>
                </a:solidFill>
                <a:latin typeface="Calibri"/>
              </a:rPr>
              <a:t>bernard.otinpong@ara.ac.nz</a:t>
            </a:r>
          </a:p>
          <a:p>
            <a:pPr algn="l"/>
            <a:r>
              <a:rPr sz="2400" b="1" i="0">
                <a:solidFill>
                  <a:srgbClr val="1E2B31"/>
                </a:solidFill>
                <a:latin typeface="Calibri"/>
              </a:rPr>
              <a:t>Industry Supervisor: </a:t>
            </a:r>
            <a:r>
              <a:rPr sz="2400" b="0" i="0">
                <a:solidFill>
                  <a:srgbClr val="1E2B31"/>
                </a:solidFill>
                <a:latin typeface="Calibri"/>
              </a:rPr>
              <a:t>Abdul Rehman</a:t>
            </a:r>
          </a:p>
          <a:p>
            <a:pPr algn="l"/>
            <a:r>
              <a:rPr sz="2400" b="0" i="0">
                <a:solidFill>
                  <a:srgbClr val="0C586E"/>
                </a:solidFill>
                <a:latin typeface="Calibri"/>
              </a:rPr>
              <a:t>abdul.rehman@ara.ac.nz</a:t>
            </a:r>
          </a:p>
        </p:txBody>
      </p:sp>
    </p:spTree>
    <p:extLst>
      <p:ext uri="{BB962C8B-B14F-4D97-AF65-F5344CB8AC3E}">
        <p14:creationId xmlns:p14="http://schemas.microsoft.com/office/powerpoint/2010/main" val="3150321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981</TotalTime>
  <Words>317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Title of your poster Your Name, Bachelor of Information &amp; Communication Technologies,  Ara Institute of Canterbury, 20XX Sem Y astudent@mail.com </vt:lpstr>
    </vt:vector>
  </TitlesOfParts>
  <Company>UCLA Library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poster Author name, affiliation, email</dc:title>
  <dc:creator>David.Weir@ara.ac.nz</dc:creator>
  <cp:lastModifiedBy>David Weir</cp:lastModifiedBy>
  <cp:revision>80</cp:revision>
  <cp:lastPrinted>2022-10-24T22:58:45Z</cp:lastPrinted>
  <dcterms:created xsi:type="dcterms:W3CDTF">2015-02-24T18:33:10Z</dcterms:created>
  <dcterms:modified xsi:type="dcterms:W3CDTF">2024-05-06T23:33:24Z</dcterms:modified>
</cp:coreProperties>
</file>